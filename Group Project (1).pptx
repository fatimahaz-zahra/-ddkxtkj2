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Cheddar" charset="1" panose="00000000000000000000"/>
      <p:regular r:id="rId10"/>
    </p:embeddedFont>
    <p:embeddedFont>
      <p:font typeface="Roboto" charset="1" panose="0200000000000000000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7117" r="0" b="-60660"/>
            </a:stretch>
          </a:blipFill>
        </p:spPr>
      </p:sp>
      <p:sp>
        <p:nvSpPr>
          <p:cNvPr name="Freeform 3" id="3"/>
          <p:cNvSpPr/>
          <p:nvPr/>
        </p:nvSpPr>
        <p:spPr>
          <a:xfrm flipH="false" flipV="false" rot="0">
            <a:off x="1968949" y="1028700"/>
            <a:ext cx="14350102" cy="7964307"/>
          </a:xfrm>
          <a:custGeom>
            <a:avLst/>
            <a:gdLst/>
            <a:ahLst/>
            <a:cxnLst/>
            <a:rect r="r" b="b" t="t" l="l"/>
            <a:pathLst>
              <a:path h="7964307" w="14350102">
                <a:moveTo>
                  <a:pt x="0" y="0"/>
                </a:moveTo>
                <a:lnTo>
                  <a:pt x="14350102" y="0"/>
                </a:lnTo>
                <a:lnTo>
                  <a:pt x="14350102" y="7964307"/>
                </a:lnTo>
                <a:lnTo>
                  <a:pt x="0" y="796430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09493" y="3464949"/>
            <a:ext cx="3857812" cy="8001730"/>
          </a:xfrm>
          <a:custGeom>
            <a:avLst/>
            <a:gdLst/>
            <a:ahLst/>
            <a:cxnLst/>
            <a:rect r="r" b="b" t="t" l="l"/>
            <a:pathLst>
              <a:path h="8001730" w="3857812">
                <a:moveTo>
                  <a:pt x="0" y="0"/>
                </a:moveTo>
                <a:lnTo>
                  <a:pt x="3857813" y="0"/>
                </a:lnTo>
                <a:lnTo>
                  <a:pt x="3857813" y="8001730"/>
                </a:lnTo>
                <a:lnTo>
                  <a:pt x="0" y="8001730"/>
                </a:lnTo>
                <a:lnTo>
                  <a:pt x="0" y="0"/>
                </a:lnTo>
                <a:close/>
              </a:path>
            </a:pathLst>
          </a:custGeom>
          <a:blipFill>
            <a:blip r:embed="rId5"/>
            <a:stretch>
              <a:fillRect l="0" t="0" r="0" b="0"/>
            </a:stretch>
          </a:blipFill>
        </p:spPr>
      </p:sp>
      <p:sp>
        <p:nvSpPr>
          <p:cNvPr name="Freeform 5" id="5"/>
          <p:cNvSpPr/>
          <p:nvPr/>
        </p:nvSpPr>
        <p:spPr>
          <a:xfrm flipH="true" flipV="false" rot="0">
            <a:off x="14120694" y="5815348"/>
            <a:ext cx="3857812" cy="8001730"/>
          </a:xfrm>
          <a:custGeom>
            <a:avLst/>
            <a:gdLst/>
            <a:ahLst/>
            <a:cxnLst/>
            <a:rect r="r" b="b" t="t" l="l"/>
            <a:pathLst>
              <a:path h="8001730" w="3857812">
                <a:moveTo>
                  <a:pt x="3857813" y="0"/>
                </a:moveTo>
                <a:lnTo>
                  <a:pt x="0" y="0"/>
                </a:lnTo>
                <a:lnTo>
                  <a:pt x="0" y="8001731"/>
                </a:lnTo>
                <a:lnTo>
                  <a:pt x="3857813" y="8001731"/>
                </a:lnTo>
                <a:lnTo>
                  <a:pt x="3857813" y="0"/>
                </a:lnTo>
                <a:close/>
              </a:path>
            </a:pathLst>
          </a:custGeom>
          <a:blipFill>
            <a:blip r:embed="rId5"/>
            <a:stretch>
              <a:fillRect l="0" t="0" r="0" b="0"/>
            </a:stretch>
          </a:blipFill>
        </p:spPr>
      </p:sp>
      <p:sp>
        <p:nvSpPr>
          <p:cNvPr name="Freeform 6" id="6"/>
          <p:cNvSpPr/>
          <p:nvPr/>
        </p:nvSpPr>
        <p:spPr>
          <a:xfrm flipH="false" flipV="false" rot="0">
            <a:off x="309493" y="1028700"/>
            <a:ext cx="6453274" cy="5176063"/>
          </a:xfrm>
          <a:custGeom>
            <a:avLst/>
            <a:gdLst/>
            <a:ahLst/>
            <a:cxnLst/>
            <a:rect r="r" b="b" t="t" l="l"/>
            <a:pathLst>
              <a:path h="5176063" w="6453274">
                <a:moveTo>
                  <a:pt x="0" y="0"/>
                </a:moveTo>
                <a:lnTo>
                  <a:pt x="6453274" y="0"/>
                </a:lnTo>
                <a:lnTo>
                  <a:pt x="6453274" y="5176063"/>
                </a:lnTo>
                <a:lnTo>
                  <a:pt x="0" y="5176063"/>
                </a:lnTo>
                <a:lnTo>
                  <a:pt x="0" y="0"/>
                </a:lnTo>
                <a:close/>
              </a:path>
            </a:pathLst>
          </a:custGeom>
          <a:blipFill>
            <a:blip r:embed="rId6"/>
            <a:stretch>
              <a:fillRect l="0" t="0" r="0" b="0"/>
            </a:stretch>
          </a:blipFill>
        </p:spPr>
      </p:sp>
      <p:sp>
        <p:nvSpPr>
          <p:cNvPr name="Freeform 7" id="7"/>
          <p:cNvSpPr/>
          <p:nvPr/>
        </p:nvSpPr>
        <p:spPr>
          <a:xfrm flipH="false" flipV="false" rot="0">
            <a:off x="11525233" y="3227317"/>
            <a:ext cx="6453274" cy="5176063"/>
          </a:xfrm>
          <a:custGeom>
            <a:avLst/>
            <a:gdLst/>
            <a:ahLst/>
            <a:cxnLst/>
            <a:rect r="r" b="b" t="t" l="l"/>
            <a:pathLst>
              <a:path h="5176063" w="6453274">
                <a:moveTo>
                  <a:pt x="0" y="0"/>
                </a:moveTo>
                <a:lnTo>
                  <a:pt x="6453274" y="0"/>
                </a:lnTo>
                <a:lnTo>
                  <a:pt x="6453274" y="5176063"/>
                </a:lnTo>
                <a:lnTo>
                  <a:pt x="0" y="5176063"/>
                </a:lnTo>
                <a:lnTo>
                  <a:pt x="0" y="0"/>
                </a:lnTo>
                <a:close/>
              </a:path>
            </a:pathLst>
          </a:custGeom>
          <a:blipFill>
            <a:blip r:embed="rId6"/>
            <a:stretch>
              <a:fillRect l="0" t="0" r="0" b="0"/>
            </a:stretch>
          </a:blipFill>
        </p:spPr>
      </p:sp>
      <p:sp>
        <p:nvSpPr>
          <p:cNvPr name="TextBox 8" id="8"/>
          <p:cNvSpPr txBox="true"/>
          <p:nvPr/>
        </p:nvSpPr>
        <p:spPr>
          <a:xfrm rot="0">
            <a:off x="3089572" y="4136015"/>
            <a:ext cx="12108857" cy="2310244"/>
          </a:xfrm>
          <a:prstGeom prst="rect">
            <a:avLst/>
          </a:prstGeom>
        </p:spPr>
        <p:txBody>
          <a:bodyPr anchor="t" rtlCol="false" tIns="0" lIns="0" bIns="0" rIns="0">
            <a:spAutoFit/>
          </a:bodyPr>
          <a:lstStyle/>
          <a:p>
            <a:pPr algn="ctr">
              <a:lnSpc>
                <a:spcPts val="14045"/>
              </a:lnSpc>
            </a:pPr>
            <a:r>
              <a:rPr lang="en-US" sz="17128" spc="-599">
                <a:solidFill>
                  <a:srgbClr val="00D9FF"/>
                </a:solidFill>
                <a:latin typeface="Cheddar"/>
                <a:ea typeface="Cheddar"/>
                <a:cs typeface="Cheddar"/>
                <a:sym typeface="Cheddar"/>
              </a:rPr>
              <a:t>TECHNOLOGY</a:t>
            </a:r>
          </a:p>
        </p:txBody>
      </p:sp>
      <p:sp>
        <p:nvSpPr>
          <p:cNvPr name="TextBox 9" id="9"/>
          <p:cNvSpPr txBox="true"/>
          <p:nvPr/>
        </p:nvSpPr>
        <p:spPr>
          <a:xfrm rot="0">
            <a:off x="3089572" y="2219832"/>
            <a:ext cx="12108857" cy="2310244"/>
          </a:xfrm>
          <a:prstGeom prst="rect">
            <a:avLst/>
          </a:prstGeom>
        </p:spPr>
        <p:txBody>
          <a:bodyPr anchor="t" rtlCol="false" tIns="0" lIns="0" bIns="0" rIns="0">
            <a:spAutoFit/>
          </a:bodyPr>
          <a:lstStyle/>
          <a:p>
            <a:pPr algn="ctr">
              <a:lnSpc>
                <a:spcPts val="14045"/>
              </a:lnSpc>
            </a:pPr>
            <a:r>
              <a:rPr lang="en-US" sz="17128" spc="-599">
                <a:solidFill>
                  <a:srgbClr val="00D9FF"/>
                </a:solidFill>
                <a:latin typeface="Cheddar"/>
                <a:ea typeface="Cheddar"/>
                <a:cs typeface="Cheddar"/>
                <a:sym typeface="Cheddar"/>
              </a:rPr>
              <a:t>DIGITALISASI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0224" r="0" b="-17552"/>
            </a:stretch>
          </a:blipFill>
        </p:spPr>
      </p:sp>
      <p:sp>
        <p:nvSpPr>
          <p:cNvPr name="Freeform 3" id="3"/>
          <p:cNvSpPr/>
          <p:nvPr/>
        </p:nvSpPr>
        <p:spPr>
          <a:xfrm flipH="false" flipV="false" rot="0">
            <a:off x="1028700" y="1427469"/>
            <a:ext cx="10988834" cy="7432062"/>
          </a:xfrm>
          <a:custGeom>
            <a:avLst/>
            <a:gdLst/>
            <a:ahLst/>
            <a:cxnLst/>
            <a:rect r="r" b="b" t="t" l="l"/>
            <a:pathLst>
              <a:path h="7432062" w="10988834">
                <a:moveTo>
                  <a:pt x="0" y="0"/>
                </a:moveTo>
                <a:lnTo>
                  <a:pt x="10988834" y="0"/>
                </a:lnTo>
                <a:lnTo>
                  <a:pt x="10988834" y="7432062"/>
                </a:lnTo>
                <a:lnTo>
                  <a:pt x="0" y="743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1323701" y="1028700"/>
            <a:ext cx="5935599" cy="8229600"/>
          </a:xfrm>
          <a:custGeom>
            <a:avLst/>
            <a:gdLst/>
            <a:ahLst/>
            <a:cxnLst/>
            <a:rect r="r" b="b" t="t" l="l"/>
            <a:pathLst>
              <a:path h="8229600" w="5935599">
                <a:moveTo>
                  <a:pt x="5935599" y="0"/>
                </a:moveTo>
                <a:lnTo>
                  <a:pt x="0" y="0"/>
                </a:lnTo>
                <a:lnTo>
                  <a:pt x="0" y="8229600"/>
                </a:lnTo>
                <a:lnTo>
                  <a:pt x="5935599" y="8229600"/>
                </a:lnTo>
                <a:lnTo>
                  <a:pt x="5935599" y="0"/>
                </a:lnTo>
                <a:close/>
              </a:path>
            </a:pathLst>
          </a:custGeom>
          <a:blipFill>
            <a:blip r:embed="rId5"/>
            <a:stretch>
              <a:fillRect l="0" t="0" r="0" b="0"/>
            </a:stretch>
          </a:blipFill>
        </p:spPr>
      </p:sp>
      <p:sp>
        <p:nvSpPr>
          <p:cNvPr name="TextBox 5" id="5"/>
          <p:cNvSpPr txBox="true"/>
          <p:nvPr/>
        </p:nvSpPr>
        <p:spPr>
          <a:xfrm rot="0">
            <a:off x="2191631" y="2452247"/>
            <a:ext cx="7291946" cy="978006"/>
          </a:xfrm>
          <a:prstGeom prst="rect">
            <a:avLst/>
          </a:prstGeom>
        </p:spPr>
        <p:txBody>
          <a:bodyPr anchor="t" rtlCol="false" tIns="0" lIns="0" bIns="0" rIns="0">
            <a:spAutoFit/>
          </a:bodyPr>
          <a:lstStyle/>
          <a:p>
            <a:pPr algn="l" marL="0" indent="0" lvl="1">
              <a:lnSpc>
                <a:spcPts val="5906"/>
              </a:lnSpc>
              <a:spcBef>
                <a:spcPct val="0"/>
              </a:spcBef>
            </a:pPr>
            <a:r>
              <a:rPr lang="en-US" sz="7203" spc="-252">
                <a:solidFill>
                  <a:srgbClr val="00D9FF"/>
                </a:solidFill>
                <a:latin typeface="Cheddar"/>
                <a:ea typeface="Cheddar"/>
                <a:cs typeface="Cheddar"/>
                <a:sym typeface="Cheddar"/>
              </a:rPr>
              <a:t>ALASAN</a:t>
            </a:r>
          </a:p>
        </p:txBody>
      </p:sp>
      <p:sp>
        <p:nvSpPr>
          <p:cNvPr name="TextBox 6" id="6"/>
          <p:cNvSpPr txBox="true"/>
          <p:nvPr/>
        </p:nvSpPr>
        <p:spPr>
          <a:xfrm rot="0">
            <a:off x="1505072" y="3468421"/>
            <a:ext cx="10317946" cy="4369856"/>
          </a:xfrm>
          <a:prstGeom prst="rect">
            <a:avLst/>
          </a:prstGeom>
        </p:spPr>
        <p:txBody>
          <a:bodyPr anchor="t" rtlCol="false" tIns="0" lIns="0" bIns="0" rIns="0">
            <a:spAutoFit/>
          </a:bodyPr>
          <a:lstStyle/>
          <a:p>
            <a:pPr algn="just">
              <a:lnSpc>
                <a:spcPts val="3493"/>
              </a:lnSpc>
            </a:pPr>
            <a:r>
              <a:rPr lang="en-US" sz="2495">
                <a:solidFill>
                  <a:srgbClr val="FFFFFF"/>
                </a:solidFill>
                <a:latin typeface="Roboto"/>
                <a:ea typeface="Roboto"/>
                <a:cs typeface="Roboto"/>
                <a:sym typeface="Roboto"/>
              </a:rPr>
              <a:t>💡 1. Efisiensi Waktu dan Tenaga</a:t>
            </a:r>
          </a:p>
          <a:p>
            <a:pPr algn="just">
              <a:lnSpc>
                <a:spcPts val="3493"/>
              </a:lnSpc>
            </a:pPr>
            <a:r>
              <a:rPr lang="en-US" sz="2495">
                <a:solidFill>
                  <a:srgbClr val="FFFFFF"/>
                </a:solidFill>
                <a:latin typeface="Roboto"/>
                <a:ea typeface="Roboto"/>
                <a:cs typeface="Roboto"/>
                <a:sym typeface="Roboto"/>
              </a:rPr>
              <a:t>Website presensi digital memudahkan proses absensi tanpa perlu mencatat manual di kertas.</a:t>
            </a:r>
          </a:p>
          <a:p>
            <a:pPr algn="just">
              <a:lnSpc>
                <a:spcPts val="3493"/>
              </a:lnSpc>
            </a:pPr>
            <a:r>
              <a:rPr lang="en-US" sz="2495">
                <a:solidFill>
                  <a:srgbClr val="FFFFFF"/>
                </a:solidFill>
                <a:latin typeface="Roboto"/>
                <a:ea typeface="Roboto"/>
                <a:cs typeface="Roboto"/>
                <a:sym typeface="Roboto"/>
              </a:rPr>
              <a:t> ➡️ Guru atau admin cukup melihat data kehadiran langsung dari sistem.</a:t>
            </a:r>
          </a:p>
          <a:p>
            <a:pPr algn="just">
              <a:lnSpc>
                <a:spcPts val="3493"/>
              </a:lnSpc>
            </a:pPr>
            <a:r>
              <a:rPr lang="en-US" sz="2495">
                <a:solidFill>
                  <a:srgbClr val="FFFFFF"/>
                </a:solidFill>
                <a:latin typeface="Roboto"/>
                <a:ea typeface="Roboto"/>
                <a:cs typeface="Roboto"/>
                <a:sym typeface="Roboto"/>
              </a:rPr>
              <a:t>🖥️ 2. Data Tersimpan Secara Otomatis</a:t>
            </a:r>
          </a:p>
          <a:p>
            <a:pPr algn="just">
              <a:lnSpc>
                <a:spcPts val="3493"/>
              </a:lnSpc>
            </a:pPr>
            <a:r>
              <a:rPr lang="en-US" sz="2495">
                <a:solidFill>
                  <a:srgbClr val="FFFFFF"/>
                </a:solidFill>
                <a:latin typeface="Roboto"/>
                <a:ea typeface="Roboto"/>
                <a:cs typeface="Roboto"/>
                <a:sym typeface="Roboto"/>
              </a:rPr>
              <a:t>Semua data presensi tersimpan di database, sehingga:</a:t>
            </a:r>
          </a:p>
          <a:p>
            <a:pPr algn="just" marL="538722" indent="-269361" lvl="1">
              <a:lnSpc>
                <a:spcPts val="3493"/>
              </a:lnSpc>
              <a:buFont typeface="Arial"/>
              <a:buChar char="•"/>
            </a:pPr>
            <a:r>
              <a:rPr lang="en-US" sz="2495">
                <a:solidFill>
                  <a:srgbClr val="FFFFFF"/>
                </a:solidFill>
                <a:latin typeface="Roboto"/>
                <a:ea typeface="Roboto"/>
                <a:cs typeface="Roboto"/>
                <a:sym typeface="Roboto"/>
              </a:rPr>
              <a:t>Tidak mudah hilang atau rusak.</a:t>
            </a:r>
          </a:p>
          <a:p>
            <a:pPr algn="just" marL="538722" indent="-269361" lvl="1">
              <a:lnSpc>
                <a:spcPts val="3493"/>
              </a:lnSpc>
              <a:buFont typeface="Arial"/>
              <a:buChar char="•"/>
            </a:pPr>
            <a:r>
              <a:rPr lang="en-US" sz="2495">
                <a:solidFill>
                  <a:srgbClr val="FFFFFF"/>
                </a:solidFill>
                <a:latin typeface="Roboto"/>
                <a:ea typeface="Roboto"/>
                <a:cs typeface="Roboto"/>
                <a:sym typeface="Roboto"/>
              </a:rPr>
              <a:t>Bisa diakses kapan saja.</a:t>
            </a:r>
          </a:p>
          <a:p>
            <a:pPr algn="just" marL="538722" indent="-269361" lvl="1">
              <a:lnSpc>
                <a:spcPts val="3493"/>
              </a:lnSpc>
              <a:buFont typeface="Arial"/>
              <a:buChar char="•"/>
            </a:pPr>
            <a:r>
              <a:rPr lang="en-US" sz="2495">
                <a:solidFill>
                  <a:srgbClr val="FFFFFF"/>
                </a:solidFill>
                <a:latin typeface="Roboto"/>
                <a:ea typeface="Roboto"/>
                <a:cs typeface="Roboto"/>
                <a:sym typeface="Roboto"/>
              </a:rPr>
              <a:t>Mudah dicari kembali jika diperlukan.</a:t>
            </a:r>
          </a:p>
          <a:p>
            <a:pPr algn="just" marL="0" indent="0" lvl="1">
              <a:lnSpc>
                <a:spcPts val="3493"/>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0224" r="0" b="-17552"/>
            </a:stretch>
          </a:blipFill>
        </p:spPr>
      </p:sp>
      <p:sp>
        <p:nvSpPr>
          <p:cNvPr name="Freeform 3" id="3"/>
          <p:cNvSpPr/>
          <p:nvPr/>
        </p:nvSpPr>
        <p:spPr>
          <a:xfrm flipH="false" flipV="false" rot="0">
            <a:off x="1028700" y="1427469"/>
            <a:ext cx="10988834" cy="7432062"/>
          </a:xfrm>
          <a:custGeom>
            <a:avLst/>
            <a:gdLst/>
            <a:ahLst/>
            <a:cxnLst/>
            <a:rect r="r" b="b" t="t" l="l"/>
            <a:pathLst>
              <a:path h="7432062" w="10988834">
                <a:moveTo>
                  <a:pt x="0" y="0"/>
                </a:moveTo>
                <a:lnTo>
                  <a:pt x="10988834" y="0"/>
                </a:lnTo>
                <a:lnTo>
                  <a:pt x="10988834" y="7432062"/>
                </a:lnTo>
                <a:lnTo>
                  <a:pt x="0" y="74320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10362909" y="0"/>
            <a:ext cx="9675594" cy="11692560"/>
          </a:xfrm>
          <a:custGeom>
            <a:avLst/>
            <a:gdLst/>
            <a:ahLst/>
            <a:cxnLst/>
            <a:rect r="r" b="b" t="t" l="l"/>
            <a:pathLst>
              <a:path h="11692560" w="9675594">
                <a:moveTo>
                  <a:pt x="9675594" y="0"/>
                </a:moveTo>
                <a:lnTo>
                  <a:pt x="0" y="0"/>
                </a:lnTo>
                <a:lnTo>
                  <a:pt x="0" y="11692560"/>
                </a:lnTo>
                <a:lnTo>
                  <a:pt x="9675594" y="11692560"/>
                </a:lnTo>
                <a:lnTo>
                  <a:pt x="9675594" y="0"/>
                </a:lnTo>
                <a:close/>
              </a:path>
            </a:pathLst>
          </a:custGeom>
          <a:blipFill>
            <a:blip r:embed="rId5"/>
            <a:stretch>
              <a:fillRect l="0" t="0" r="0" b="0"/>
            </a:stretch>
          </a:blipFill>
        </p:spPr>
      </p:sp>
      <p:sp>
        <p:nvSpPr>
          <p:cNvPr name="TextBox 5" id="5"/>
          <p:cNvSpPr txBox="true"/>
          <p:nvPr/>
        </p:nvSpPr>
        <p:spPr>
          <a:xfrm rot="0">
            <a:off x="3070963" y="2211100"/>
            <a:ext cx="7291946" cy="978006"/>
          </a:xfrm>
          <a:prstGeom prst="rect">
            <a:avLst/>
          </a:prstGeom>
        </p:spPr>
        <p:txBody>
          <a:bodyPr anchor="t" rtlCol="false" tIns="0" lIns="0" bIns="0" rIns="0">
            <a:spAutoFit/>
          </a:bodyPr>
          <a:lstStyle/>
          <a:p>
            <a:pPr algn="l" marL="0" indent="0" lvl="1">
              <a:lnSpc>
                <a:spcPts val="5906"/>
              </a:lnSpc>
              <a:spcBef>
                <a:spcPct val="0"/>
              </a:spcBef>
            </a:pPr>
            <a:r>
              <a:rPr lang="en-US" sz="7203" spc="-252">
                <a:solidFill>
                  <a:srgbClr val="00D9FF"/>
                </a:solidFill>
                <a:latin typeface="Cheddar"/>
                <a:ea typeface="Cheddar"/>
                <a:cs typeface="Cheddar"/>
                <a:sym typeface="Cheddar"/>
              </a:rPr>
              <a:t>LATAR BELAKANG</a:t>
            </a:r>
          </a:p>
        </p:txBody>
      </p:sp>
      <p:sp>
        <p:nvSpPr>
          <p:cNvPr name="TextBox 6" id="6"/>
          <p:cNvSpPr txBox="true"/>
          <p:nvPr/>
        </p:nvSpPr>
        <p:spPr>
          <a:xfrm rot="0">
            <a:off x="2099413" y="4095759"/>
            <a:ext cx="8847409" cy="330670"/>
          </a:xfrm>
          <a:prstGeom prst="rect">
            <a:avLst/>
          </a:prstGeom>
        </p:spPr>
        <p:txBody>
          <a:bodyPr anchor="t" rtlCol="false" tIns="0" lIns="0" bIns="0" rIns="0">
            <a:spAutoFit/>
          </a:bodyPr>
          <a:lstStyle/>
          <a:p>
            <a:pPr algn="just" marL="0" indent="0" lvl="1">
              <a:lnSpc>
                <a:spcPts val="2655"/>
              </a:lnSpc>
              <a:spcBef>
                <a:spcPct val="0"/>
              </a:spcBef>
            </a:pPr>
            <a:r>
              <a:rPr lang="en-US" sz="1896">
                <a:solidFill>
                  <a:srgbClr val="FFFFFF"/>
                </a:solidFill>
                <a:latin typeface="Roboto"/>
                <a:ea typeface="Roboto"/>
                <a:cs typeface="Roboto"/>
                <a:sym typeface="Roboto"/>
              </a:rPr>
              <a:t>L</a:t>
            </a:r>
          </a:p>
        </p:txBody>
      </p:sp>
      <p:sp>
        <p:nvSpPr>
          <p:cNvPr name="TextBox 7" id="7"/>
          <p:cNvSpPr txBox="true"/>
          <p:nvPr/>
        </p:nvSpPr>
        <p:spPr>
          <a:xfrm rot="0">
            <a:off x="1856121" y="3065281"/>
            <a:ext cx="9721629" cy="4535594"/>
          </a:xfrm>
          <a:prstGeom prst="rect">
            <a:avLst/>
          </a:prstGeom>
        </p:spPr>
        <p:txBody>
          <a:bodyPr anchor="t" rtlCol="false" tIns="0" lIns="0" bIns="0" rIns="0">
            <a:spAutoFit/>
          </a:bodyPr>
          <a:lstStyle/>
          <a:p>
            <a:pPr algn="ctr">
              <a:lnSpc>
                <a:spcPts val="4436"/>
              </a:lnSpc>
              <a:spcBef>
                <a:spcPct val="0"/>
              </a:spcBef>
            </a:pPr>
            <a:r>
              <a:rPr lang="en-US" sz="3169" spc="-110">
                <a:solidFill>
                  <a:srgbClr val="000000"/>
                </a:solidFill>
                <a:latin typeface="Cheddar"/>
                <a:ea typeface="Cheddar"/>
                <a:cs typeface="Cheddar"/>
                <a:sym typeface="Cheddar"/>
              </a:rPr>
              <a:t>🧾 LATAR BELAKANG</a:t>
            </a:r>
          </a:p>
          <a:p>
            <a:pPr algn="ctr">
              <a:lnSpc>
                <a:spcPts val="4436"/>
              </a:lnSpc>
              <a:spcBef>
                <a:spcPct val="0"/>
              </a:spcBef>
            </a:pPr>
            <a:r>
              <a:rPr lang="en-US" sz="3169" spc="-110">
                <a:solidFill>
                  <a:srgbClr val="000000"/>
                </a:solidFill>
                <a:latin typeface="Cheddar"/>
                <a:ea typeface="Cheddar"/>
                <a:cs typeface="Cheddar"/>
                <a:sym typeface="Cheddar"/>
              </a:rPr>
              <a:t>DALAM ERA DIGITAL SAAT INI, PENGGUNAAN TEKNOLOGI INFORMASI TELAH MENJADI KEBUTUHAN PENTING DALAM BERBAGAI BIDANG, TERMASUK DI DUNIA PENDIDIKAN. SALAH SATU PENERAPAN TEKNOLOGI TERSEBUT ADALAH SISTEM PRESENSI DIGITAL. SELAMA INI, PROSES ABSENSI SISWA MAUPUN KARYAWAN SERING DILAKUKAN SECARA MANUAL MENGGUNAKAN KERTAS, YANG MEMBUTUHKAN WAKTU LAMA, RAWAN KESALAHAN, SERTA SULIT DALAM PENGOLAHAN 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046" r="0" b="-68730"/>
            </a:stretch>
          </a:blipFill>
        </p:spPr>
      </p:sp>
      <p:sp>
        <p:nvSpPr>
          <p:cNvPr name="TextBox 3" id="3"/>
          <p:cNvSpPr txBox="true"/>
          <p:nvPr/>
        </p:nvSpPr>
        <p:spPr>
          <a:xfrm rot="0">
            <a:off x="1413135" y="3882412"/>
            <a:ext cx="15461730" cy="3854547"/>
          </a:xfrm>
          <a:prstGeom prst="rect">
            <a:avLst/>
          </a:prstGeom>
        </p:spPr>
        <p:txBody>
          <a:bodyPr anchor="t" rtlCol="false" tIns="0" lIns="0" bIns="0" rIns="0">
            <a:spAutoFit/>
          </a:bodyPr>
          <a:lstStyle/>
          <a:p>
            <a:pPr algn="ctr">
              <a:lnSpc>
                <a:spcPts val="23346"/>
              </a:lnSpc>
            </a:pPr>
            <a:r>
              <a:rPr lang="en-US" sz="28471" spc="-996">
                <a:solidFill>
                  <a:srgbClr val="00D9FF"/>
                </a:solidFill>
                <a:latin typeface="Cheddar"/>
                <a:ea typeface="Cheddar"/>
                <a:cs typeface="Cheddar"/>
                <a:sym typeface="Cheddar"/>
              </a:rPr>
              <a:t>THANK YOU</a:t>
            </a:r>
          </a:p>
        </p:txBody>
      </p:sp>
      <p:sp>
        <p:nvSpPr>
          <p:cNvPr name="Freeform 4" id="4"/>
          <p:cNvSpPr/>
          <p:nvPr/>
        </p:nvSpPr>
        <p:spPr>
          <a:xfrm flipH="false" flipV="false" rot="0">
            <a:off x="4698132" y="6122370"/>
            <a:ext cx="8891736" cy="4678186"/>
          </a:xfrm>
          <a:custGeom>
            <a:avLst/>
            <a:gdLst/>
            <a:ahLst/>
            <a:cxnLst/>
            <a:rect r="r" b="b" t="t" l="l"/>
            <a:pathLst>
              <a:path h="4678186" w="8891736">
                <a:moveTo>
                  <a:pt x="0" y="0"/>
                </a:moveTo>
                <a:lnTo>
                  <a:pt x="8891736" y="0"/>
                </a:lnTo>
                <a:lnTo>
                  <a:pt x="8891736" y="4678186"/>
                </a:lnTo>
                <a:lnTo>
                  <a:pt x="0" y="4678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DAG1uk3ifEc</dc:identifier>
  <dcterms:modified xsi:type="dcterms:W3CDTF">2011-08-01T06:04:30Z</dcterms:modified>
  <cp:revision>1</cp:revision>
  <dc:title>Group Project</dc:title>
</cp:coreProperties>
</file>